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虚构项目及愿景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统一入口、可跟踪、少补正。</a:t>
            </a:r>
          </a:p>
          <a:p>
            <a:pPr>
              <a:defRPr sz="2000">
                <a:latin typeface="Noto Sans CJK SC"/>
              </a:defRPr>
            </a:pPr>
            <a:r>
              <a:t>三校区共用门户；主业务系统继续保留。</a:t>
            </a:r>
          </a:p>
          <a:p>
            <a:pPr>
              <a:defRPr sz="2000">
                <a:latin typeface="Noto Sans CJK SC"/>
              </a:defRPr>
            </a:pPr>
            <a:r>
              <a:t>本材料版本0.8，早于最终需求评审。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服务入口散落在12个独立页面。</a:t>
            </a:r>
          </a:p>
          <a:p>
            <a:pPr>
              <a:defRPr sz="2000">
                <a:latin typeface="Noto Sans CJK SC"/>
              </a:defRPr>
            </a:pPr>
            <a:r>
              <a:t>手机无法看见完整办理轨迹。</a:t>
            </a:r>
          </a:p>
          <a:p>
            <a:pPr>
              <a:defRPr sz="2000">
                <a:latin typeface="Noto Sans CJK SC"/>
              </a:defRPr>
            </a:pPr>
            <a:r>
              <a:t>跨校区事项被多次转交且缺少原因。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用户与访问方式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学生、教职工、服务台、业务办理员、校区管理员、校级运营、审计观察员。</a:t>
            </a:r>
          </a:p>
          <a:p>
            <a:pPr>
              <a:defRPr sz="2000">
                <a:latin typeface="Noto Sans CJK SC"/>
              </a:defRPr>
            </a:pPr>
            <a:r>
              <a:t>PC浏览器、手机浏览器、服务大厅自助终端。</a:t>
            </a:r>
          </a:p>
          <a:p>
            <a:pPr>
              <a:defRPr sz="2000">
                <a:latin typeface="Noto Sans CJK SC"/>
              </a:defRPr>
            </a:pPr>
            <a:r>
              <a:t>不单独建设原生手机App。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规划中的五个功能区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个人事项中心：进度、补正、撤销、评价。</a:t>
            </a:r>
          </a:p>
          <a:p>
            <a:pPr>
              <a:defRPr sz="2000">
                <a:latin typeface="Noto Sans CJK SC"/>
              </a:defRPr>
            </a:pPr>
            <a:r>
              <a:t>服务目录：条件、材料、开放时间、负责部门。</a:t>
            </a:r>
          </a:p>
          <a:p>
            <a:pPr>
              <a:defRPr sz="2000">
                <a:latin typeface="Noto Sans CJK SC"/>
              </a:defRPr>
            </a:pPr>
            <a:r>
              <a:t>统一消息中心；部门办理工作台；运营看板。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早期候选范围（待评审）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曾考虑整合在线缴费、班车订座和岗位申请。</a:t>
            </a:r>
          </a:p>
          <a:p>
            <a:pPr>
              <a:defRPr sz="2000">
                <a:latin typeface="Noto Sans CJK SC"/>
              </a:defRPr>
            </a:pPr>
            <a:r>
              <a:t>曾建议全校统一一个服务台，不区分校区。</a:t>
            </a:r>
          </a:p>
          <a:p>
            <a:pPr>
              <a:defRPr sz="2000">
                <a:latin typeface="Noto Sans CJK SC"/>
              </a:defRPr>
            </a:pPr>
            <a:r>
              <a:t>此页只保留讨论历史，不能作为最终需求确认。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试点与扩展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首批试点北岭校区的设备报修、场地预约、校园卡挂失、在读证明。</a:t>
            </a:r>
          </a:p>
          <a:p>
            <a:pPr>
              <a:defRPr sz="2000">
                <a:latin typeface="Noto Sans CJK SC"/>
              </a:defRPr>
            </a:pPr>
            <a:r>
              <a:t>试点后按服务目录扩展南湾和东港。</a:t>
            </a:r>
          </a:p>
          <a:p>
            <a:pPr>
              <a:defRPr sz="2000">
                <a:latin typeface="Noto Sans CJK SC"/>
              </a:defRPr>
            </a:pPr>
            <a:r>
              <a:t>上线时间和并发容量尚未核定。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业务质量目标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受理号和状态跨端一致。</a:t>
            </a:r>
          </a:p>
          <a:p>
            <a:pPr>
              <a:defRPr sz="2000">
                <a:latin typeface="Noto Sans CJK SC"/>
              </a:defRPr>
            </a:pPr>
            <a:r>
              <a:t>转交保留完整轨迹和原累计时长。</a:t>
            </a:r>
          </a:p>
          <a:p>
            <a:pPr>
              <a:defRPr sz="2000">
                <a:latin typeface="Noto Sans CJK SC"/>
              </a:defRPr>
            </a:pPr>
            <a:r>
              <a:t>附件访问按事项与角色授权。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计划交付物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用户需求说明书；需求追溯表；待确认项。</a:t>
            </a:r>
          </a:p>
          <a:p>
            <a:pPr>
              <a:defRPr sz="2000">
                <a:latin typeface="Noto Sans CJK SC"/>
              </a:defRPr>
            </a:pPr>
            <a:r>
              <a:t>用户流程图与低保真原型，包含错误状态。</a:t>
            </a:r>
          </a:p>
          <a:p>
            <a:pPr>
              <a:defRPr sz="2000">
                <a:latin typeface="Noto Sans CJK SC"/>
              </a:defRPr>
            </a:pPr>
            <a:r>
              <a:t>业务验收脚本按角色和服务分组。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