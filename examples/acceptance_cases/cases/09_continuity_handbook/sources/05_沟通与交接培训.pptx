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演练不是只看系统启动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全链路合成业务、数据、消息、权限和观测共同决定恢复。</a:t>
            </a:r>
          </a:p>
          <a:p>
            <a:pPr>
              <a:defRPr sz="2000">
                <a:latin typeface="Noto Sans CJK SC"/>
              </a:defRPr>
            </a:pPr>
            <a:r>
              <a:t>技术人员提供证据，业务验收员确认结果，指挥员作决定。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阶段消息应包含什么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演练ID与阶段、影响范围、已知情况、未知情况、下一动作、下一次更新时间。</a:t>
            </a:r>
          </a:p>
          <a:p>
            <a:pPr>
              <a:defRPr sz="2000">
                <a:latin typeface="Noto Sans CJK SC"/>
              </a:defRPr>
            </a:pPr>
            <a:r>
              <a:t>不要用“全部正常”概括尚未完成的模块。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统一时间口径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原时区与UTC同时记录，UTC排序。</a:t>
            </a:r>
          </a:p>
          <a:p>
            <a:pPr>
              <a:defRPr sz="2000">
                <a:latin typeface="Noto Sans CJK SC"/>
              </a:defRPr>
            </a:pPr>
            <a:r>
              <a:t>Asia/Shanghai为UTC+08:00，本演练日期没有夏令时换算。</a:t>
            </a:r>
          </a:p>
          <a:p>
            <a:pPr>
              <a:defRPr sz="2000">
                <a:latin typeface="Noto Sans CJK SC"/>
              </a:defRPr>
            </a:pPr>
            <a:r>
              <a:t>RTO与RPO使用不同起止对象，不可混算。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交接动作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读回当前阶段和关键事实。</a:t>
            </a:r>
          </a:p>
          <a:p>
            <a:pPr>
              <a:defRPr sz="2000">
                <a:latin typeface="Noto Sans CJK SC"/>
              </a:defRPr>
            </a:pPr>
            <a:r>
              <a:t>交接未完成动作、批准状态、已知风险与证据位置。</a:t>
            </a:r>
          </a:p>
          <a:p>
            <a:pPr>
              <a:defRPr sz="2000">
                <a:latin typeface="Noto Sans CJK SC"/>
              </a:defRPr>
            </a:pPr>
            <a:r>
              <a:t>接班人确认收到后才完成交接。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不确定时如何表达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用尚未确认、证据不足或指标不可判定。</a:t>
            </a:r>
          </a:p>
          <a:p>
            <a:pPr>
              <a:defRPr sz="2000">
                <a:latin typeface="Noto Sans CJK SC"/>
              </a:defRPr>
            </a:pPr>
            <a:r>
              <a:t>没有观测值时保留空值和缺失原因，不填猜测。</a:t>
            </a:r>
          </a:p>
          <a:p>
            <a:pPr>
              <a:defRPr sz="2000">
                <a:latin typeface="Noto Sans CJK SC"/>
              </a:defRPr>
            </a:pPr>
            <a:r>
              <a:t>下一步写负责角色和验证动作。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分支处理原则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切换、回滚和追加故障必须有批准记录。</a:t>
            </a:r>
          </a:p>
          <a:p>
            <a:pPr>
              <a:defRPr sz="2000">
                <a:latin typeface="Noto Sans CJK SC"/>
              </a:defRPr>
            </a:pPr>
            <a:r>
              <a:t>客户端超时先查询实际状态，不盲目重复操作。</a:t>
            </a:r>
          </a:p>
          <a:p>
            <a:pPr>
              <a:defRPr sz="2000">
                <a:latin typeface="Noto Sans CJK SC"/>
              </a:defRPr>
            </a:pPr>
            <a:r>
              <a:t>失败演练也要完整保留证据。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复盘输出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事实时间线、指标、成功与失败原因、证据缺口。</a:t>
            </a:r>
          </a:p>
          <a:p>
            <a:pPr>
              <a:defRPr sz="2000">
                <a:latin typeface="Noto Sans CJK SC"/>
              </a:defRPr>
            </a:pPr>
            <a:r>
              <a:t>整改项要有责任角色、到期时间和验证条件。</a:t>
            </a:r>
          </a:p>
          <a:p>
            <a:pPr>
              <a:defRPr sz="2000">
                <a:latin typeface="Noto Sans CJK SC"/>
              </a:defRPr>
            </a:pPr>
            <a:r>
              <a:t>演练关闭与整改关闭是两个状态。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未确认配置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联系人姓名和电话尚未提供。</a:t>
            </a:r>
          </a:p>
          <a:p>
            <a:pPr>
              <a:defRPr sz="2000">
                <a:latin typeface="Noto Sans CJK SC"/>
              </a:defRPr>
            </a:pPr>
            <a:r>
              <a:t>实际会议地址、备用群组、脚本路径待演练前登记。</a:t>
            </a:r>
          </a:p>
          <a:p>
            <a:pPr>
              <a:defRPr sz="2000">
                <a:latin typeface="Noto Sans CJK SC"/>
              </a:defRPr>
            </a:pPr>
            <a:r>
              <a:t>不得把占位符当已完成准备。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